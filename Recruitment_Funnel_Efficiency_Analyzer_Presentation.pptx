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67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BEC4"/>
                </a:solidFill>
                <a:latin typeface="Aptos"/>
              </a:rPr>
              <a:t>HR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Recruitment Funnel
Efficiency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15468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CDDCEE"/>
                </a:solidFill>
                <a:latin typeface="Aptos"/>
              </a:rPr>
              <a:t>Data-driven analysis of recruitment performance, bottlenecks, sourcing efficiency and what-if scenarios.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3035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Prepared by Swetaa K.B.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6692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4C9E1"/>
                </a:solidFill>
                <a:latin typeface="Aptos"/>
              </a:rPr>
              <a:t>Microsoft Excel  |  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005840"/>
            <a:ext cx="658368" cy="4846320"/>
          </a:xfrm>
          <a:prstGeom prst="round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1005840"/>
            <a:ext cx="658368" cy="4846320"/>
          </a:xfrm>
          <a:prstGeom prst="roundRect">
            <a:avLst/>
          </a:prstGeom>
          <a:solidFill>
            <a:srgbClr val="2D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789920" y="1005840"/>
            <a:ext cx="658368" cy="4846320"/>
          </a:xfrm>
          <a:prstGeom prst="roundRect">
            <a:avLst/>
          </a:prstGeom>
          <a:solidFill>
            <a:srgbClr val="6E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223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Turning recruitment data into actionable HR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011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1325880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563624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92808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17320"/>
            <a:ext cx="2011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0360" y="1417320"/>
            <a:ext cx="64008" cy="1325880"/>
          </a:xfrm>
          <a:prstGeom prst="rect">
            <a:avLst/>
          </a:prstGeom>
          <a:solidFill>
            <a:srgbClr val="2B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563624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HIRES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892808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58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417320"/>
            <a:ext cx="2011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0" y="1417320"/>
            <a:ext cx="64008" cy="1325880"/>
          </a:xfrm>
          <a:prstGeom prst="rect">
            <a:avLst/>
          </a:prstGeom>
          <a:solidFill>
            <a:srgbClr val="2D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563624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APPLICATION → 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892808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23.20%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417320"/>
            <a:ext cx="2011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1417320"/>
            <a:ext cx="64008" cy="132588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19" y="1563624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AVG. TIME-TO-HIRE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19" y="1892808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35.81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1417320"/>
            <a:ext cx="16002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966960" y="1417320"/>
            <a:ext cx="64008" cy="1325880"/>
          </a:xfrm>
          <a:prstGeom prst="rect">
            <a:avLst/>
          </a:prstGeom>
          <a:solidFill>
            <a:srgbClr val="D3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0" y="1563624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COST / HIRE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892808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₹5,192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46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E2A3C"/>
                </a:solidFill>
                <a:latin typeface="Aptos"/>
              </a:rPr>
              <a:t>• Analyzed 250 applications across Applied, Screened, Interviewed, Offered and Hired stages.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130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E2A3C"/>
                </a:solidFill>
                <a:latin typeface="Aptos"/>
              </a:rPr>
              <a:t>• Identified major candidate losses at Screening → Interview and Interview → Offer.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7997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E2A3C"/>
                </a:solidFill>
                <a:latin typeface="Aptos"/>
              </a:rPr>
              <a:t>• Compared recruitment sources using applications, hires, conversion and cost-per-hire.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469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E2A3C"/>
                </a:solidFill>
                <a:latin typeface="Aptos"/>
              </a:rPr>
              <a:t>• Built what-if scenarios to evaluate potential improvements in funnel efficiency.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58C"/>
                </a:solidFill>
                <a:latin typeface="Aptos"/>
              </a:rPr>
              <a:t>Recruitment Funnel Efficiency Analyzer  |  HR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58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2233F"/>
                </a:solidFill>
                <a:latin typeface="Aptos"/>
              </a:rPr>
              <a:t>Recruitment Funnel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Candidate movement through recruitment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64922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63039"/>
            <a:ext cx="6126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2233F"/>
                </a:solidFill>
                <a:latin typeface="Aptos"/>
              </a:rPr>
              <a:t>Candidates by Recruitment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965960"/>
            <a:ext cx="633679" cy="3291840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9079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30952"/>
            <a:ext cx="1182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Applied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7984" y="2479487"/>
            <a:ext cx="633679" cy="2778312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20824" y="2250887"/>
            <a:ext cx="9079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211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5330952"/>
            <a:ext cx="1182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Screened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3651382"/>
            <a:ext cx="633679" cy="1606417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72968" y="3422782"/>
            <a:ext cx="9079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5330952"/>
            <a:ext cx="1182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Interviewed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2272" y="4322917"/>
            <a:ext cx="633679" cy="934882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2" y="4094317"/>
            <a:ext cx="9079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5330952"/>
            <a:ext cx="1182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Offered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14416" y="4494093"/>
            <a:ext cx="633679" cy="763706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77256" y="4265493"/>
            <a:ext cx="9079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5330952"/>
            <a:ext cx="1182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Hired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508760"/>
            <a:ext cx="18288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1508760"/>
            <a:ext cx="64008" cy="1143000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1655063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SCREENING CONVERSION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1984248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84.40%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480" y="1508760"/>
            <a:ext cx="18288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55480" y="1508760"/>
            <a:ext cx="64008" cy="114300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38359" y="1655063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INTERVIEW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59" y="1984248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57.82%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2880360"/>
            <a:ext cx="18288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43800" y="2880360"/>
            <a:ext cx="64008" cy="114300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6679" y="3026664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OFFER CONVERSION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3355848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58.20%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2880360"/>
            <a:ext cx="18288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55480" y="2880360"/>
            <a:ext cx="64008" cy="1143000"/>
          </a:xfrm>
          <a:prstGeom prst="rect">
            <a:avLst/>
          </a:prstGeom>
          <a:solidFill>
            <a:srgbClr val="2B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59" y="3026664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OFFER → HIRE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59" y="3355848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81.69%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4434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64758C"/>
                </a:solidFill>
                <a:latin typeface="Aptos"/>
              </a:rPr>
              <a:t>Overall Application → Hire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4754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33F"/>
                </a:solidFill>
                <a:latin typeface="Aptos"/>
              </a:rPr>
              <a:t>23.20%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58C"/>
                </a:solidFill>
                <a:latin typeface="Aptos"/>
              </a:rPr>
              <a:t>Recruitment Funnel Efficiency Analyzer  |  HR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58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2233F"/>
                </a:solidFill>
                <a:latin typeface="Aptos"/>
              </a:rPr>
              <a:t>Recruitment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Core measures of hiring 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0574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1325880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56362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TOTAL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9280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417320"/>
            <a:ext cx="20574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71800" y="1417320"/>
            <a:ext cx="64008" cy="1325880"/>
          </a:xfrm>
          <a:prstGeom prst="rect">
            <a:avLst/>
          </a:prstGeom>
          <a:solidFill>
            <a:srgbClr val="2B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156362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TOTAL HIRES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89280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58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417320"/>
            <a:ext cx="20574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03520" y="1417320"/>
            <a:ext cx="64008" cy="1325880"/>
          </a:xfrm>
          <a:prstGeom prst="rect">
            <a:avLst/>
          </a:prstGeom>
          <a:solidFill>
            <a:srgbClr val="2D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156362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APPLICATION → 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89280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23.20%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417320"/>
            <a:ext cx="20574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0" y="1417320"/>
            <a:ext cx="64008" cy="1325880"/>
          </a:xfrm>
          <a:prstGeom prst="rect">
            <a:avLst/>
          </a:prstGeom>
          <a:solidFill>
            <a:srgbClr val="2B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9" y="156362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OFFER → HIRE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189280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81.69%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417320"/>
            <a:ext cx="20574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75520" y="1417320"/>
            <a:ext cx="64008" cy="132588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0" y="156362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AVG.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189280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35.81 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3337560"/>
            <a:ext cx="27432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554480" y="3337560"/>
            <a:ext cx="64008" cy="1417320"/>
          </a:xfrm>
          <a:prstGeom prst="rect">
            <a:avLst/>
          </a:prstGeom>
          <a:solidFill>
            <a:srgbClr val="D3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37360" y="3483864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TOTAL RECRUITMENT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813048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₹301,116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337560"/>
            <a:ext cx="27432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3337560"/>
            <a:ext cx="64008" cy="1417320"/>
          </a:xfrm>
          <a:prstGeom prst="rect">
            <a:avLst/>
          </a:prstGeom>
          <a:solidFill>
            <a:srgbClr val="D3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3483864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COST-PER-HIRE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13048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₹5,191.66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337560"/>
            <a:ext cx="27432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589520" y="3337560"/>
            <a:ext cx="64008" cy="141732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0" y="3483864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HIRING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813048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~36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212080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4758C"/>
                </a:solidFill>
                <a:latin typeface="Aptos"/>
              </a:rPr>
              <a:t>The KPI set combines volume, conversion, speed and cost to provide a balanced view of recruitment performance.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58C"/>
                </a:solidFill>
                <a:latin typeface="Aptos"/>
              </a:rPr>
              <a:t>Recruitment Funnel Efficiency Analyzer  |  HR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58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2233F"/>
                </a:solidFill>
                <a:latin typeface="Aptos"/>
              </a:rPr>
              <a:t>Funnel Drop-Off &amp; Bottleneck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Where candidate leakage is highest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60350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63039"/>
            <a:ext cx="5669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2233F"/>
                </a:solidFill>
                <a:latin typeface="Aptos"/>
              </a:rPr>
              <a:t>Drop-Off % by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040334"/>
            <a:ext cx="729234" cy="1217465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811734"/>
            <a:ext cx="100355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15.6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30952"/>
            <a:ext cx="127787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App→Screen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965959"/>
            <a:ext cx="729234" cy="329184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" y="1737359"/>
            <a:ext cx="100355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42.18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330952"/>
            <a:ext cx="127787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Screen→Interview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995616"/>
            <a:ext cx="729234" cy="3262183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767016"/>
            <a:ext cx="100355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41.8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330952"/>
            <a:ext cx="127787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Interview→Offer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79" y="3828838"/>
            <a:ext cx="729234" cy="1428961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19" y="3600238"/>
            <a:ext cx="100355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18.31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5330952"/>
            <a:ext cx="127787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Offer→Hire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417320"/>
            <a:ext cx="2148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95160" y="1417320"/>
            <a:ext cx="64008" cy="1325880"/>
          </a:xfrm>
          <a:prstGeom prst="rect">
            <a:avLst/>
          </a:prstGeom>
          <a:solidFill>
            <a:srgbClr val="D3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156362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HIGHEST DROP-OFF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89280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42.18%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417320"/>
            <a:ext cx="2148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26880" y="1417320"/>
            <a:ext cx="64008" cy="132588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59" y="156362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SECOND HIGHEST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189280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41.80%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1546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2233F"/>
                </a:solidFill>
                <a:latin typeface="Aptos"/>
              </a:rPr>
              <a:t>HR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56616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E2A3C"/>
                </a:solidFill>
                <a:latin typeface="Aptos"/>
              </a:rPr>
              <a:t>• Review screening criteria and candidate-job fit.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33087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E2A3C"/>
                </a:solidFill>
                <a:latin typeface="Aptos"/>
              </a:rPr>
              <a:t>• Standardize interview evaluation and feedback.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700016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E2A3C"/>
                </a:solidFill>
                <a:latin typeface="Aptos"/>
              </a:rPr>
              <a:t>• Monitor candidate engagement between stages.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66944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E2A3C"/>
                </a:solidFill>
                <a:latin typeface="Aptos"/>
              </a:rPr>
              <a:t>• Set turnaround-time targets.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58C"/>
                </a:solidFill>
                <a:latin typeface="Aptos"/>
              </a:rPr>
              <a:t>Recruitment Funnel Efficiency Analyzer  |  HR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58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2233F"/>
                </a:solidFill>
                <a:latin typeface="Aptos"/>
              </a:rPr>
              <a:t>Source Effectiveness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Comparing recruitment 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0352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63039"/>
            <a:ext cx="4937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2233F"/>
                </a:solidFill>
                <a:latin typeface="Aptos"/>
              </a:rPr>
              <a:t>Hires by Recruitment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048000"/>
            <a:ext cx="628650" cy="2164080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9400"/>
            <a:ext cx="90297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85232"/>
            <a:ext cx="117729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Job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120537"/>
            <a:ext cx="628650" cy="3091542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1891937"/>
            <a:ext cx="90297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799" y="5285232"/>
            <a:ext cx="117729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Referral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965959"/>
            <a:ext cx="628650" cy="3246120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737359"/>
            <a:ext cx="90297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5285232"/>
            <a:ext cx="117729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LinkedIn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4748348"/>
            <a:ext cx="628650" cy="463731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4519748"/>
            <a:ext cx="90297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285232"/>
            <a:ext cx="117729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Campus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2233F"/>
                </a:solidFill>
                <a:latin typeface="Aptos"/>
              </a:rPr>
              <a:t>SOURCE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783080"/>
            <a:ext cx="1234440" cy="36576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1828800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783080"/>
            <a:ext cx="594360" cy="36576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182880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Apps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1783080"/>
            <a:ext cx="640080" cy="36576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1828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Hires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1783080"/>
            <a:ext cx="1051560" cy="36576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41080" y="1828800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Conversion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783080"/>
            <a:ext cx="1325880" cy="36576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1828800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Cost/Hire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194560"/>
            <a:ext cx="1234440" cy="53035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2200" y="2286000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Job Portal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194560"/>
            <a:ext cx="594360" cy="53035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06640" y="228600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2194560"/>
            <a:ext cx="640080" cy="53035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01000" y="22860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2194560"/>
            <a:ext cx="1051560" cy="53035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41080" y="2286000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15.22%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2194560"/>
            <a:ext cx="1325880" cy="53035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92640" y="2286000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₹6,692.79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788920"/>
            <a:ext cx="1234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72200" y="2880360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Referral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2788920"/>
            <a:ext cx="594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06640" y="288036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54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2788920"/>
            <a:ext cx="640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01000" y="28803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41080" y="2788920"/>
            <a:ext cx="10515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41080" y="2880360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37.04%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92640" y="2788920"/>
            <a:ext cx="13258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92640" y="2880360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₹3,674.10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3383280"/>
            <a:ext cx="1234440" cy="53035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72200" y="3474720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LinkedIn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3383280"/>
            <a:ext cx="594360" cy="53035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06640" y="34747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76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3383280"/>
            <a:ext cx="640080" cy="53035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01000" y="34747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21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41080" y="3383280"/>
            <a:ext cx="1051560" cy="53035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41080" y="3474720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27.63%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92640" y="3383280"/>
            <a:ext cx="1325880" cy="53035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692640" y="3474720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₹5,382.86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3977639"/>
            <a:ext cx="1234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72200" y="4069079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Campus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06640" y="3977639"/>
            <a:ext cx="594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406640" y="4069079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28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01000" y="3977639"/>
            <a:ext cx="640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01000" y="4069079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41080" y="3977639"/>
            <a:ext cx="10515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41080" y="4069079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10.71%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92640" y="3977639"/>
            <a:ext cx="13258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92640" y="4069079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2A3C"/>
                </a:solidFill>
                <a:latin typeface="Aptos"/>
              </a:rPr>
              <a:t>₹6,965.00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480060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B9E69"/>
                </a:solidFill>
                <a:latin typeface="Aptos"/>
              </a:rPr>
              <a:t>Referral shows the highest conversion (37.04%) and lowest cost-per-hire (₹3,674.10) in this dataset.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58C"/>
                </a:solidFill>
                <a:latin typeface="Aptos"/>
              </a:rPr>
              <a:t>Recruitment Funnel Efficiency Analyzer  |  HR Analytics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58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2233F"/>
                </a:solidFill>
                <a:latin typeface="Aptos"/>
              </a:rPr>
              <a:t>Time-to-Hire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Monitoring recruitment cycle duration over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64922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63039"/>
            <a:ext cx="6126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2233F"/>
                </a:solidFill>
                <a:latin typeface="Aptos"/>
              </a:rPr>
              <a:t>Average Time-to-Hire Trend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808992"/>
            <a:ext cx="452628" cy="2448807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580392"/>
            <a:ext cx="7269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30952"/>
            <a:ext cx="10012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Feb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965960"/>
            <a:ext cx="452628" cy="3291839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1737360"/>
            <a:ext cx="7269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330952"/>
            <a:ext cx="10012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Mar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367403"/>
            <a:ext cx="452628" cy="2890396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4600" y="2138803"/>
            <a:ext cx="7269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5330952"/>
            <a:ext cx="10012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Apr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303172"/>
            <a:ext cx="452628" cy="2954627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2074572"/>
            <a:ext cx="7269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36.8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30952"/>
            <a:ext cx="10012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May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271057"/>
            <a:ext cx="452628" cy="2986742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2042457"/>
            <a:ext cx="7269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37.2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330952"/>
            <a:ext cx="10012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Jun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704616"/>
            <a:ext cx="452628" cy="2553183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79" y="2476016"/>
            <a:ext cx="7269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31.8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330952"/>
            <a:ext cx="10012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Jul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054277"/>
            <a:ext cx="452628" cy="3203522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06440" y="1825677"/>
            <a:ext cx="7269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39.9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330952"/>
            <a:ext cx="10012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Aug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1554480"/>
            <a:ext cx="20116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1554480"/>
            <a:ext cx="64008" cy="128016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1700784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OVERALL AVERAGE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2029967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35.81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246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2233F"/>
                </a:solidFill>
                <a:latin typeface="Aptos"/>
              </a:rPr>
              <a:t>HR FOCUS AREAS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E2A3C"/>
                </a:solidFill>
                <a:latin typeface="Aptos"/>
              </a:rPr>
              <a:t>• Reduce delays between stages.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224528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E2A3C"/>
                </a:solidFill>
                <a:latin typeface="Aptos"/>
              </a:rPr>
              <a:t>• Set turnaround-time targets.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4791456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E2A3C"/>
                </a:solidFill>
                <a:latin typeface="Aptos"/>
              </a:rPr>
              <a:t>• Monitor pending candidates.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5358383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E2A3C"/>
                </a:solidFill>
                <a:latin typeface="Aptos"/>
              </a:rPr>
              <a:t>• Improve recruiter–manager coordination.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58C"/>
                </a:solidFill>
                <a:latin typeface="Aptos"/>
              </a:rPr>
              <a:t>Recruitment Funnel Efficiency Analyzer  |  HR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58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2233F"/>
                </a:solidFill>
                <a:latin typeface="Aptos"/>
              </a:rPr>
              <a:t>Recruitment Cost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Understanding cost efficiency across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9260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" cy="1371600"/>
          </a:xfrm>
          <a:prstGeom prst="rect">
            <a:avLst/>
          </a:prstGeom>
          <a:solidFill>
            <a:srgbClr val="D3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TOTAL RECRUITMENT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₹301,116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37160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86200" y="1371600"/>
            <a:ext cx="64008" cy="1371600"/>
          </a:xfrm>
          <a:prstGeom prst="rect">
            <a:avLst/>
          </a:prstGeom>
          <a:solidFill>
            <a:srgbClr val="2B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69080" y="1517904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TOTAL HIRES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847088"/>
            <a:ext cx="2240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58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37160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75120" y="1371600"/>
            <a:ext cx="64008" cy="137160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1517904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COST-PER-HIRE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47088"/>
            <a:ext cx="2240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₹5,191.66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63240"/>
            <a:ext cx="640080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20040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2233F"/>
                </a:solidFill>
                <a:latin typeface="Aptos"/>
              </a:rPr>
              <a:t>Cost-per-Hire by 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771220"/>
            <a:ext cx="779526" cy="1669459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542620"/>
            <a:ext cx="105384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6692.79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13831"/>
            <a:ext cx="132816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Job Portal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524207"/>
            <a:ext cx="779526" cy="916472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23160" y="4295607"/>
            <a:ext cx="105384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3674.1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513831"/>
            <a:ext cx="132816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Referral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4097971"/>
            <a:ext cx="779526" cy="1342708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79" y="3869371"/>
            <a:ext cx="105384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5382.86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513831"/>
            <a:ext cx="132816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LinkedIn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3703319"/>
            <a:ext cx="779526" cy="1737360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57800" y="3474719"/>
            <a:ext cx="105384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6965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513831"/>
            <a:ext cx="132816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Campus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154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2233F"/>
                </a:solidFill>
                <a:latin typeface="Aptos"/>
              </a:rPr>
              <a:t>INTERPRETATION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566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E2A3C"/>
                </a:solidFill>
                <a:latin typeface="Aptos"/>
              </a:rPr>
              <a:t>• Cost-per-hire varies across channels.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4133087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E2A3C"/>
                </a:solidFill>
                <a:latin typeface="Aptos"/>
              </a:rPr>
              <a:t>• Referral has the lowest cost-per-hire in this dataset.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700016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E2A3C"/>
                </a:solidFill>
                <a:latin typeface="Aptos"/>
              </a:rPr>
              <a:t>• Review cost together with conversion and hiring volume.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58C"/>
                </a:solidFill>
                <a:latin typeface="Aptos"/>
              </a:rPr>
              <a:t>Recruitment Funnel Efficiency Analyzer  |  HR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58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2233F"/>
                </a:solidFill>
                <a:latin typeface="Aptos"/>
              </a:rPr>
              <a:t>Scenario &amp; What-If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Testing potential HR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2233F"/>
                </a:solidFill>
                <a:latin typeface="Aptos"/>
              </a:rPr>
              <a:t>SCENARIO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2A3C"/>
                </a:solidFill>
                <a:latin typeface="Aptos"/>
              </a:rPr>
              <a:t>Reduce Interview → Offer drop-off by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246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64008" cy="1188720"/>
          </a:xfrm>
          <a:prstGeom prst="rect">
            <a:avLst/>
          </a:prstGeom>
          <a:solidFill>
            <a:srgbClr val="D3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78024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PROJECTED DROP-OFF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2926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33.44%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3246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64008" cy="1188720"/>
          </a:xfrm>
          <a:prstGeom prst="rect">
            <a:avLst/>
          </a:prstGeom>
          <a:solidFill>
            <a:srgbClr val="2B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803904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PROJECTED A → H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33087"/>
            <a:ext cx="2926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≈26.40%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32588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2233F"/>
                </a:solidFill>
                <a:latin typeface="Aptos"/>
              </a:rPr>
              <a:t>SCENARIO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2A3C"/>
                </a:solidFill>
                <a:latin typeface="Aptos"/>
              </a:rPr>
              <a:t>Increase Referral Hiring by 15%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331720"/>
            <a:ext cx="3246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2331720"/>
            <a:ext cx="64008" cy="1188720"/>
          </a:xfrm>
          <a:prstGeom prst="rect">
            <a:avLst/>
          </a:prstGeom>
          <a:solidFill>
            <a:srgbClr val="2B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2478024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PROJECTED TOTAL HIRES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807208"/>
            <a:ext cx="2926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≈61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57600"/>
            <a:ext cx="3246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657600"/>
            <a:ext cx="64008" cy="118872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3803904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PROJECTED COST / HIRE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133087"/>
            <a:ext cx="2926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≈₹4,936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132588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2233F"/>
                </a:solidFill>
                <a:latin typeface="Aptos"/>
              </a:rPr>
              <a:t>SCENARIO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2A3C"/>
                </a:solidFill>
                <a:latin typeface="Aptos"/>
              </a:rPr>
              <a:t>Reduce Average Time-to-Hire by 5 days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331720"/>
            <a:ext cx="3246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2331720"/>
            <a:ext cx="64008" cy="1188720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2478024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CURRENT AVERAGE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07208"/>
            <a:ext cx="2926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35.81 days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657600"/>
            <a:ext cx="3246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3657600"/>
            <a:ext cx="64008" cy="1188720"/>
          </a:xfrm>
          <a:prstGeom prst="rect">
            <a:avLst/>
          </a:prstGeom>
          <a:solidFill>
            <a:srgbClr val="2B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3803904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PROJECTED TIME-TO-HIRE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133087"/>
            <a:ext cx="2926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30.81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4758C"/>
                </a:solidFill>
                <a:latin typeface="Aptos"/>
              </a:rPr>
              <a:t>Scenario results are based on the assumptions defined in the Power BI model; they are not actual future outcomes.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58C"/>
                </a:solidFill>
                <a:latin typeface="Aptos"/>
              </a:rPr>
              <a:t>Recruitment Funnel Efficiency Analyzer  |  HR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58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2233F"/>
                </a:solidFill>
                <a:latin typeface="Aptos"/>
              </a:rPr>
              <a:t>HR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Action areas supported by the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66360" cy="1261872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904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874DC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53895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2233F"/>
                </a:solidFill>
                <a:latin typeface="Aptos"/>
              </a:rPr>
              <a:t>Strengthen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56231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Review screening criteria and candidate–job 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166360" cy="1261872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904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874D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453895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2233F"/>
                </a:solidFill>
                <a:latin typeface="Aptos"/>
              </a:rPr>
              <a:t>Improve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856231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Use structured evaluation and timely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98648"/>
            <a:ext cx="5166360" cy="1261872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874DC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2666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2233F"/>
                </a:solidFill>
                <a:latin typeface="Aptos"/>
              </a:rPr>
              <a:t>Leverage referrals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29000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Referral shows strong conversion and lower cost-per-hire 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98648"/>
            <a:ext cx="5166360" cy="1261872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874DC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02666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2233F"/>
                </a:solidFill>
                <a:latin typeface="Aptos"/>
              </a:rPr>
              <a:t>Reduce cycle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429000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Track stage delays and set turnaround targets.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71416"/>
            <a:ext cx="5166360" cy="1261872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636007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874DC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599431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2233F"/>
                </a:solidFill>
                <a:latin typeface="Aptos"/>
              </a:rPr>
              <a:t>Engage candidates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001768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Maintain timely communication between stages.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471416"/>
            <a:ext cx="5166360" cy="1261872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4636007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874DC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599431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2233F"/>
                </a:solidFill>
                <a:latin typeface="Aptos"/>
              </a:rPr>
              <a:t>Use HR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001768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Monitor funnel, source, cost and time KPIs.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58C"/>
                </a:solidFill>
                <a:latin typeface="Aptos"/>
              </a:rPr>
              <a:t>Recruitment Funnel Efficiency Analyzer  |  HR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58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Power BI Recruitment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9C9DC"/>
                </a:solidFill>
                <a:latin typeface="Aptos"/>
              </a:rPr>
              <a:t>Interactive view of funnel, KPIs, source effectiveness and time trends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27080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2233F"/>
                </a:solidFill>
                <a:latin typeface="Aptos"/>
              </a:rPr>
              <a:t>RECRUITMENT FUNNEL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1783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64008" cy="914400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12264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41448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250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965960"/>
            <a:ext cx="1783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26080" y="1965960"/>
            <a:ext cx="64008" cy="914400"/>
          </a:xfrm>
          <a:prstGeom prst="rect">
            <a:avLst/>
          </a:prstGeom>
          <a:solidFill>
            <a:srgbClr val="2B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2112264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Hires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41448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58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965960"/>
            <a:ext cx="1783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37760" y="1965960"/>
            <a:ext cx="64008" cy="914400"/>
          </a:xfrm>
          <a:prstGeom prst="rect">
            <a:avLst/>
          </a:prstGeom>
          <a:solidFill>
            <a:srgbClr val="2D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2112264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A→H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41448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23.20%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965960"/>
            <a:ext cx="1783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49440" y="1965960"/>
            <a:ext cx="64008" cy="91440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2112264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Avg.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441448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35.81 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965960"/>
            <a:ext cx="1783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1965960"/>
            <a:ext cx="64008" cy="914400"/>
          </a:xfrm>
          <a:prstGeom prst="rect">
            <a:avLst/>
          </a:prstGeom>
          <a:solidFill>
            <a:srgbClr val="D3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2112264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Cost/Hire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441448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₹5,192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154680"/>
            <a:ext cx="429768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32918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2233F"/>
                </a:solidFill>
                <a:latin typeface="Aptos"/>
              </a:rPr>
              <a:t>Funnel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3794759"/>
            <a:ext cx="392277" cy="1188719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3566159"/>
            <a:ext cx="66659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250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39" y="5056631"/>
            <a:ext cx="94091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Applied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93391" y="3980200"/>
            <a:ext cx="392277" cy="1003279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56231" y="3751600"/>
            <a:ext cx="66659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211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19071" y="5056631"/>
            <a:ext cx="94091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Screened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06624" y="4403384"/>
            <a:ext cx="392277" cy="580095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69464" y="4174784"/>
            <a:ext cx="66659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122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304" y="5056631"/>
            <a:ext cx="94091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Interviewed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19856" y="4645883"/>
            <a:ext cx="392277" cy="337596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82696" y="4417283"/>
            <a:ext cx="66659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45536" y="5056631"/>
            <a:ext cx="94091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Offered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33087" y="4707696"/>
            <a:ext cx="392277" cy="275783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95927" y="4479096"/>
            <a:ext cx="66659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58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5056631"/>
            <a:ext cx="94091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Hired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40680" y="3154680"/>
            <a:ext cx="283464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23560" y="32918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2233F"/>
                </a:solidFill>
                <a:latin typeface="Aptos"/>
              </a:rPr>
              <a:t>Hires by Source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4190999"/>
            <a:ext cx="289179" cy="792479"/>
          </a:xfrm>
          <a:prstGeom prst="rect">
            <a:avLst/>
          </a:prstGeom>
          <a:solidFill>
            <a:srgbClr val="2D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0" y="3962399"/>
            <a:ext cx="5634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5056631"/>
            <a:ext cx="8378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Job Portal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32220" y="3851365"/>
            <a:ext cx="289179" cy="1132114"/>
          </a:xfrm>
          <a:prstGeom prst="rect">
            <a:avLst/>
          </a:prstGeom>
          <a:solidFill>
            <a:srgbClr val="2D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95060" y="3622765"/>
            <a:ext cx="5634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7900" y="5056631"/>
            <a:ext cx="8378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Referral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794759"/>
            <a:ext cx="289179" cy="1188719"/>
          </a:xfrm>
          <a:prstGeom prst="rect">
            <a:avLst/>
          </a:prstGeom>
          <a:solidFill>
            <a:srgbClr val="2D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20840" y="3566159"/>
            <a:ext cx="5634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056631"/>
            <a:ext cx="8378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LinkedIn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83780" y="4813662"/>
            <a:ext cx="289179" cy="169817"/>
          </a:xfrm>
          <a:prstGeom prst="rect">
            <a:avLst/>
          </a:prstGeom>
          <a:solidFill>
            <a:srgbClr val="2D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46620" y="4585062"/>
            <a:ext cx="5634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09460" y="5056631"/>
            <a:ext cx="8378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Campus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12480" y="3154680"/>
            <a:ext cx="27432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95359" y="32918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2233F"/>
                </a:solidFill>
                <a:latin typeface="Aptos"/>
              </a:rPr>
              <a:t>Time-to-Hire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240" y="4099188"/>
            <a:ext cx="158060" cy="884291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41080" y="3870588"/>
            <a:ext cx="4323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30.5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19" y="5056631"/>
            <a:ext cx="7067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Feb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65622" y="3794759"/>
            <a:ext cx="158060" cy="1188719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28462" y="3566159"/>
            <a:ext cx="4323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41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91302" y="5056631"/>
            <a:ext cx="7067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Mar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53005" y="3939725"/>
            <a:ext cx="158060" cy="1043754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15845" y="3711125"/>
            <a:ext cx="4323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78685" y="5056631"/>
            <a:ext cx="7067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Apr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40388" y="3916531"/>
            <a:ext cx="158060" cy="1066948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03228" y="3687931"/>
            <a:ext cx="4323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36.8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66068" y="5056631"/>
            <a:ext cx="7067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May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27771" y="3904934"/>
            <a:ext cx="158060" cy="1078545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790611" y="3676334"/>
            <a:ext cx="4323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37.2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53451" y="5056631"/>
            <a:ext cx="7067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Jun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15154" y="4061497"/>
            <a:ext cx="158060" cy="921982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077994" y="3832897"/>
            <a:ext cx="4323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31.8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40834" y="5056631"/>
            <a:ext cx="7067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Jul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02537" y="3826652"/>
            <a:ext cx="158060" cy="1156827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365377" y="3598052"/>
            <a:ext cx="4323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A3C"/>
                </a:solidFill>
                <a:latin typeface="Aptos"/>
              </a:rPr>
              <a:t>39.9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28217" y="5056631"/>
            <a:ext cx="7067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4758C"/>
                </a:solidFill>
                <a:latin typeface="Aptos"/>
              </a:rPr>
              <a:t>Aug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58C"/>
                </a:solidFill>
                <a:latin typeface="Aptos"/>
              </a:rPr>
              <a:t>Recruitment Funnel Efficiency Analyzer  |  HR Analytics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58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2233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58C"/>
                </a:solidFill>
                <a:latin typeface="Aptos"/>
              </a:rPr>
              <a:t>Recruitment performance can be improved through focused, measurable HR interventions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2402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1325880"/>
          </a:xfrm>
          <a:prstGeom prst="rect">
            <a:avLst/>
          </a:prstGeom>
          <a:solidFill>
            <a:srgbClr val="28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417320"/>
            <a:ext cx="22402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54680" y="1417320"/>
            <a:ext cx="64008" cy="1325880"/>
          </a:xfrm>
          <a:prstGeom prst="rect">
            <a:avLst/>
          </a:prstGeom>
          <a:solidFill>
            <a:srgbClr val="2B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56362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HIRES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892808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58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417320"/>
            <a:ext cx="22402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77840" y="1417320"/>
            <a:ext cx="64008" cy="1325880"/>
          </a:xfrm>
          <a:prstGeom prst="rect">
            <a:avLst/>
          </a:prstGeom>
          <a:solidFill>
            <a:srgbClr val="2D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156362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A → H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892808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23.20%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22402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417320"/>
            <a:ext cx="64008" cy="132588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156362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4758C"/>
                </a:solidFill>
                <a:latin typeface="Aptos"/>
              </a:rPr>
              <a:t>AVG.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892808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E2A3C"/>
                </a:solidFill>
                <a:latin typeface="Aptos"/>
              </a:rPr>
              <a:t>35.81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461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2A3C"/>
                </a:solidFill>
                <a:latin typeface="Aptos"/>
              </a:rPr>
              <a:t>• Major candidate leakage occurs at Screening → Interview and Interview → Offer.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130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2A3C"/>
                </a:solidFill>
                <a:latin typeface="Aptos"/>
              </a:rPr>
              <a:t>• Recruitment sources differ meaningfully in conversion and cost-per-hire.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799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2A3C"/>
                </a:solidFill>
                <a:latin typeface="Aptos"/>
              </a:rPr>
              <a:t>• Referral records the strongest conversion and lowest cost-per-hire in this dataset.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6904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2A3C"/>
                </a:solidFill>
                <a:latin typeface="Aptos"/>
              </a:rPr>
              <a:t>• What-if analysis demonstrates potential improvements under defined assumptions.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13831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2A3C"/>
                </a:solidFill>
                <a:latin typeface="Aptos"/>
              </a:rPr>
              <a:t>• The Power BI dashboard provides a repeatable framework for monitoring recruitment efficiency.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71031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2233F"/>
                </a:solidFill>
                <a:latin typeface="Aptos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58C"/>
                </a:solidFill>
                <a:latin typeface="Aptos"/>
              </a:rPr>
              <a:t>Recruitment Funnel Efficiency Analyzer  |  HR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58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Project 4 IITD\D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1450"/>
            <a:ext cx="12192000" cy="6515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Project 4 IITD\D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6050"/>
            <a:ext cx="12192000" cy="6565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885</Words>
  <Application>Microsoft Macintosh PowerPoint</Application>
  <PresentationFormat>Custom</PresentationFormat>
  <Paragraphs>293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Swe</cp:lastModifiedBy>
  <cp:revision>3</cp:revision>
  <dcterms:created xsi:type="dcterms:W3CDTF">2013-01-27T09:14:16Z</dcterms:created>
  <dcterms:modified xsi:type="dcterms:W3CDTF">2026-09-28T16:08:46Z</dcterms:modified>
  <cp:category/>
</cp:coreProperties>
</file>